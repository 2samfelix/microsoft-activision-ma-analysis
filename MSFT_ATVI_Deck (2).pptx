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1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EPS Accretion/(Dilution)</c:v>
                </c:pt>
              </c:strCache>
            </c:strRef>
          </c:tx>
          <c:spPr>
            <a:solidFill>
              <a:srgbClr val="1F4E78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222222"/>
                    </a:solidFill>
                    <a:latin typeface="Arial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Yr 1</c:v>
                  </c:pt>
                  <c:pt idx="1">
                    <c:v>Yr 2</c:v>
                  </c:pt>
                  <c:pt idx="2">
                    <c:v>Yr 3</c:v>
                  </c:pt>
                  <c:pt idx="3">
                    <c:v>Yr 4</c:v>
                  </c:pt>
                  <c:pt idx="4">
                    <c:v>Yr 5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-3.1</c:v>
                </c:pt>
                <c:pt idx="1">
                  <c:v>-1.42</c:v>
                </c:pt>
                <c:pt idx="2">
                  <c:v>-0.39</c:v>
                </c:pt>
                <c:pt idx="3">
                  <c:v>0.24</c:v>
                </c:pt>
                <c:pt idx="4">
                  <c:v>2.33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0" i="0" strike="noStrike" sz="1000" u="none">
                  <a:solidFill>
                    <a:srgbClr val="222222"/>
                  </a:solidFill>
                  <a:latin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lineChart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0% EPS Breakeven</c:v>
                </c:pt>
              </c:strCache>
            </c:strRef>
          </c:tx>
          <c:spPr>
            <a:solidFill>
              <a:srgbClr val="C0504D"/>
            </a:solidFill>
            <a:ln w="31750" cap="flat">
              <a:solidFill>
                <a:srgbClr val="C0504D"/>
              </a:solidFill>
              <a:prstDash val="solid"/>
              <a:round/>
            </a:ln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222222"/>
                    </a:solidFill>
                    <a:latin typeface="Arial"/>
                  </a:defRPr>
                </a:pPr>
              </a:p>
            </c:txPr>
            <c:dLblPos val="outEnd"/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C0504D"/>
              </a:solidFill>
              <a:ln w="9525" cap="flat">
                <a:solidFill>
                  <a:srgbClr val="C0504D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Yr 1</c:v>
                  </c:pt>
                  <c:pt idx="1">
                    <c:v>Yr 2</c:v>
                  </c:pt>
                  <c:pt idx="2">
                    <c:v>Yr 3</c:v>
                  </c:pt>
                  <c:pt idx="3">
                    <c:v>Yr 4</c:v>
                  </c:pt>
                  <c:pt idx="4">
                    <c:v>Yr 5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</c:numCache>
            </c:numRef>
          </c:val>
          <c:smooth val="0"/>
        </c:ser>
        <c:dLbls>
          <c:numFmt formatCode="0.00" sourceLinked="0"/>
          <c:txPr>
            <a:bodyPr/>
            <a:lstStyle/>
            <a:p>
              <a:pPr>
                <a:defRPr b="0" i="0" strike="noStrike" sz="1000" u="none">
                  <a:solidFill>
                    <a:srgbClr val="222222"/>
                  </a:solidFill>
                  <a:latin typeface="Arial"/>
                </a:defRPr>
              </a:pPr>
            </a:p>
          </c:txPr>
          <c:dLblPos val="outEnd"/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5555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DDDDDD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55555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000">
              <a:solidFill>
                <a:srgbClr val="555555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7365D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1920240"/>
            <a:ext cx="10972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Microsoft Corporation — Activision Blizzard Acquisition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288036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B8CC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M&amp;A Accretion/Dilution &amp; Strategic Analysis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640080" y="3611880"/>
            <a:ext cx="3657600" cy="0"/>
          </a:xfrm>
          <a:prstGeom prst="line">
            <a:avLst/>
          </a:prstGeom>
          <a:noFill/>
          <a:ln w="25400">
            <a:solidFill>
              <a:srgbClr val="9C7A3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3840480"/>
            <a:ext cx="96012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Was the Activision acquisition financially justified, and what synergy level was required for EPS accretion?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" y="61264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8CC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 Felix  |  August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F4E7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11430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Transaction Overview</a:t>
            </a:r>
            <a:endParaRPr lang="en-US" sz="24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097280"/>
          <a:ext cx="6949440" cy="914400"/>
        </p:xfrm>
        <a:graphic>
          <a:graphicData uri="http://schemas.openxmlformats.org/drawingml/2006/table">
            <a:tbl>
              <a:tblPr/>
              <a:tblGrid>
                <a:gridCol w="3840480"/>
                <a:gridCol w="310896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Item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Value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Announcement date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January 18, 2022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Close date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October 13, 2023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Offer price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$95.00 per share, all-cash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Premium to unaffected price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45.28%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Announced headline deal value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$68.7 billion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Final accounting purchase price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$75.408 billion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Cash paid, net of cash acquired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$61.800 billion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Long-term debt assumed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$2.799 billion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7863840" y="1097280"/>
            <a:ext cx="3749040" cy="1463040"/>
          </a:xfrm>
          <a:prstGeom prst="roundRect">
            <a:avLst>
              <a:gd name="adj" fmla="val 5000"/>
            </a:avLst>
          </a:prstGeom>
          <a:solidFill>
            <a:srgbClr val="EAF1F8"/>
          </a:solidFill>
          <a:ln w="12700">
            <a:solidFill>
              <a:srgbClr val="B8CCE4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863840" y="1207008"/>
            <a:ext cx="3749040" cy="80467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7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$75.408B</a:t>
            </a:r>
            <a:endParaRPr lang="en-US" sz="3000" dirty="0"/>
          </a:p>
        </p:txBody>
      </p:sp>
      <p:sp>
        <p:nvSpPr>
          <p:cNvPr id="7" name="Text 4"/>
          <p:cNvSpPr/>
          <p:nvPr/>
        </p:nvSpPr>
        <p:spPr>
          <a:xfrm>
            <a:off x="8001000" y="1945843"/>
            <a:ext cx="3474720" cy="5852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Final accounting purchase price (Microsoft FY2025 10-K, final PPA)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7863840" y="2834640"/>
            <a:ext cx="3749040" cy="1463040"/>
          </a:xfrm>
          <a:prstGeom prst="roundRect">
            <a:avLst>
              <a:gd name="adj" fmla="val 5000"/>
            </a:avLst>
          </a:prstGeom>
          <a:solidFill>
            <a:srgbClr val="EAF1F8"/>
          </a:solidFill>
          <a:ln w="12700">
            <a:solidFill>
              <a:srgbClr val="B8CCE4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863840" y="2944368"/>
            <a:ext cx="3749040" cy="80467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7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45.28%</a:t>
            </a:r>
            <a:endParaRPr lang="en-US" sz="3000" dirty="0"/>
          </a:p>
        </p:txBody>
      </p:sp>
      <p:sp>
        <p:nvSpPr>
          <p:cNvPr id="10" name="Text 7"/>
          <p:cNvSpPr/>
          <p:nvPr/>
        </p:nvSpPr>
        <p:spPr>
          <a:xfrm>
            <a:off x="8001000" y="3683203"/>
            <a:ext cx="3474720" cy="5852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Premium to Activision's unaffected share price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7863840" y="4572000"/>
            <a:ext cx="37490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4E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[SOURCED] </a:t>
            </a:r>
            <a:pPr indent="0" marL="0">
              <a:buNone/>
            </a:pPr>
            <a:r>
              <a:rPr lang="en-US" sz="1100" i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figures from Microsoft's FY2025 Form 10-K (final purchase price allocation) and the deal announcement.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365760" y="6537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Microsoft × Activision Blizzard  |  M&amp;A Accretion/Dilution &amp; Strategic Analysis  |  Sam Felix</a:t>
            </a:r>
            <a:endParaRPr lang="en-US" sz="800" dirty="0"/>
          </a:p>
        </p:txBody>
      </p:sp>
      <p:sp>
        <p:nvSpPr>
          <p:cNvPr id="13" name="Text 10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F4E7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11430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Sources &amp; Uses / Financing Structure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1051560"/>
            <a:ext cx="1124712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Modeled as primarily cash-funded — Microsoft's FY2024 filings do not identify any debt issuance as acquisition-specific.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Deliberately not a leveraged-acquisition template: no unsupported acquisition-debt tranche is assumed.</a:t>
            </a:r>
            <a:endParaRPr lang="en-US" sz="14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468880"/>
          <a:ext cx="7589520" cy="914400"/>
        </p:xfrm>
        <a:graphic>
          <a:graphicData uri="http://schemas.openxmlformats.org/drawingml/2006/table">
            <a:tbl>
              <a:tblPr/>
              <a:tblGrid>
                <a:gridCol w="3657600"/>
                <a:gridCol w="2103120"/>
                <a:gridCol w="18288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Item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Value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Type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Net cash deployed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$61.800B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Sourced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Foregone cash yield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4.0%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Assumption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Pre-tax foregone interest income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$2.472B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Derived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After-tax economic cost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$2.003B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Derived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Microsoft effective tax rate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18.98%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Sourced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8503920" y="2468880"/>
            <a:ext cx="3108960" cy="1554480"/>
          </a:xfrm>
          <a:prstGeom prst="roundRect">
            <a:avLst>
              <a:gd name="adj" fmla="val 4706"/>
            </a:avLst>
          </a:prstGeom>
          <a:solidFill>
            <a:srgbClr val="FFF2CC"/>
          </a:solidFill>
          <a:ln w="12700">
            <a:solidFill>
              <a:srgbClr val="D6B656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686800" y="2606040"/>
            <a:ext cx="283464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9C7A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[DISCLOSED, UNRESOLVED] </a:t>
            </a:r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$632M gap between cash paid + acquired ($74.776B) and total purchase price ($75.408B) is disclosed as-is, not guessed at.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365760" y="6537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Microsoft × Activision Blizzard  |  M&amp;A Accretion/Dilution &amp; Strategic Analysis  |  Sam Felix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F4E7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11430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Base-Case Accretion / Dilution</a:t>
            </a:r>
            <a:endParaRPr lang="en-US" sz="24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097280"/>
          <a:ext cx="6949440" cy="914400"/>
        </p:xfrm>
        <a:graphic>
          <a:graphicData uri="http://schemas.openxmlformats.org/drawingml/2006/table">
            <a:tbl>
              <a:tblPr/>
              <a:tblGrid>
                <a:gridCol w="4206240"/>
                <a:gridCol w="27432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Item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Amount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Microsoft standalone net income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$72,361M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Activision standalone net income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$1,513M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7365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Less: after-tax foregone interest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7365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($2,003M)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7365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Less: after-tax PPA amortization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7365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($2,489M)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 forma net income (no synergies)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$69,382M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 forma diluted EPS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$9.2857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Microsoft standalone EPS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$9.68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7863840" y="1097280"/>
            <a:ext cx="3749040" cy="1828800"/>
          </a:xfrm>
          <a:prstGeom prst="roundRect">
            <a:avLst>
              <a:gd name="adj" fmla="val 4000"/>
            </a:avLst>
          </a:prstGeom>
          <a:solidFill>
            <a:srgbClr val="EAF1F8"/>
          </a:solidFill>
          <a:ln w="12700">
            <a:solidFill>
              <a:srgbClr val="B8CCE4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863840" y="1207008"/>
            <a:ext cx="3749040" cy="10058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7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-4.07%</a:t>
            </a:r>
            <a:endParaRPr lang="en-US" sz="3400" dirty="0"/>
          </a:p>
        </p:txBody>
      </p:sp>
      <p:sp>
        <p:nvSpPr>
          <p:cNvPr id="7" name="Text 4"/>
          <p:cNvSpPr/>
          <p:nvPr/>
        </p:nvSpPr>
        <p:spPr>
          <a:xfrm>
            <a:off x="8001000" y="2157984"/>
            <a:ext cx="34747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Base-case EPS accretion / (dilution), zero synergies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7863840" y="3200400"/>
            <a:ext cx="374904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9C7A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[INTERPRETATION] </a:t>
            </a:r>
            <a:pPr indent="0" marL="0">
              <a:buNone/>
            </a:pPr>
            <a:r>
              <a:rPr lang="en-US" sz="1250" i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two highlighted rows are the principal drivers of dilution: foregone interest income and new intangible amortization — not weak fundamentals at either company.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365760" y="6537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Microsoft × Activision Blizzard  |  M&amp;A Accretion/Dilution &amp; Strategic Analysis  |  Sam Felix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F4E7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11430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Synergy Breakeven Analysis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1188720"/>
            <a:ext cx="5303520" cy="1737360"/>
          </a:xfrm>
          <a:prstGeom prst="roundRect">
            <a:avLst>
              <a:gd name="adj" fmla="val 4211"/>
            </a:avLst>
          </a:prstGeom>
          <a:solidFill>
            <a:srgbClr val="EAF1F8"/>
          </a:solidFill>
          <a:ln w="12700">
            <a:solidFill>
              <a:srgbClr val="B8CCE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298448"/>
            <a:ext cx="5303520" cy="955548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17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$3.637B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685800" y="2196389"/>
            <a:ext cx="5029200" cy="6949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 annual pre-tax synergies for EPS neutrality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6126480" y="1188720"/>
            <a:ext cx="5303520" cy="1737360"/>
          </a:xfrm>
          <a:prstGeom prst="roundRect">
            <a:avLst>
              <a:gd name="adj" fmla="val 4211"/>
            </a:avLst>
          </a:prstGeom>
          <a:solidFill>
            <a:srgbClr val="EAF1F8"/>
          </a:solidFill>
          <a:ln w="12700">
            <a:solidFill>
              <a:srgbClr val="B8CCE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126480" y="1298448"/>
            <a:ext cx="5303520" cy="955548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17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48.31%</a:t>
            </a:r>
            <a:endParaRPr lang="en-US" sz="3800" dirty="0"/>
          </a:p>
        </p:txBody>
      </p:sp>
      <p:sp>
        <p:nvSpPr>
          <p:cNvPr id="9" name="Text 7"/>
          <p:cNvSpPr/>
          <p:nvPr/>
        </p:nvSpPr>
        <p:spPr>
          <a:xfrm>
            <a:off x="6263640" y="2196389"/>
            <a:ext cx="5029200" cy="6949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 Activision's entire FY2022 revenue base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548640" y="320040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C7A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[MODEL-DERIVED, NOT GUIDANCE] </a:t>
            </a:r>
            <a:pPr indent="0" marL="0">
              <a:buNone/>
            </a:pPr>
            <a:r>
              <a:rPr lang="en-US" sz="140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is a model-derived EPS-neutral hurdle — Microsoft has not disclosed a specific synergy target for this deal.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57200" y="4206240"/>
            <a:ext cx="1124712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 48.31% of Activision's entire revenue base, this is exceptionally large relative to the operating scale of the business being acquired.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does not mean the deal fails to create value — it means near-term EPS accretion from cost synergies alone is an unrealistic bar.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investment case more plausibly rests on revenue synergies and ecosystem value a synergy-breakeven model cannot capture (see Slide 8).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365760" y="6537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Microsoft × Activision Blizzard  |  M&amp;A Accretion/Dilution &amp; Strategic Analysis  |  Sam Felix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F4E7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11430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Five-Year Pro Forma EPS Path</a:t>
            </a:r>
            <a:endParaRPr lang="en-US" sz="24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097280"/>
          <a:ext cx="11064240" cy="914400"/>
        </p:xfrm>
        <a:graphic>
          <a:graphicData uri="http://schemas.openxmlformats.org/drawingml/2006/table">
            <a:tbl>
              <a:tblPr/>
              <a:tblGrid>
                <a:gridCol w="3017520"/>
                <a:gridCol w="1609344"/>
                <a:gridCol w="1609344"/>
                <a:gridCol w="1609344"/>
                <a:gridCol w="1609344"/>
                <a:gridCol w="1609344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Metric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Yr 1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Yr 2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Yr 3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Yr 4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Yr 5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EPS Accretion/(Dilution)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(3.10%)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(1.42%)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(0.39%)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0.24%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2.33%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5" name="Chart 0" descr=""/>
          <p:cNvGraphicFramePr/>
          <p:nvPr/>
        </p:nvGraphicFramePr>
        <p:xfrm>
          <a:off x="548640" y="2103120"/>
          <a:ext cx="11064240" cy="30175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2"/>
          <p:cNvSpPr/>
          <p:nvPr/>
        </p:nvSpPr>
        <p:spPr>
          <a:xfrm>
            <a:off x="548640" y="61722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C7A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[SCENARIO OUTCOME, NOT GUIDANCE] </a:t>
            </a:r>
            <a:pPr indent="0" marL="0">
              <a:buNone/>
            </a:pPr>
            <a:r>
              <a:rPr lang="en-US" sz="1150" i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Driven by a synergy ramp (25%→100%) and the step-down in intangible amortization after 4-year assets fully amortize. Not a prediction of Microsoft's actual realized post-close EPS.</a:t>
            </a:r>
            <a:endParaRPr lang="en-US" sz="1200" dirty="0"/>
          </a:p>
        </p:txBody>
      </p:sp>
      <p:sp>
        <p:nvSpPr>
          <p:cNvPr id="7" name="Text 3"/>
          <p:cNvSpPr/>
          <p:nvPr/>
        </p:nvSpPr>
        <p:spPr>
          <a:xfrm>
            <a:off x="365760" y="6537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Microsoft × Activision Blizzard  |  M&amp;A Accretion/Dilution &amp; Strategic Analysis  |  Sam Felix</a:t>
            </a:r>
            <a:endParaRPr lang="en-US" sz="800" dirty="0"/>
          </a:p>
        </p:txBody>
      </p:sp>
      <p:sp>
        <p:nvSpPr>
          <p:cNvPr id="8" name="Text 4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F4E7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11430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Liquidity Rebuild Analysis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1051560"/>
            <a:ext cx="1124712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a classic highly-leveraged acquisition — a debt-paydown narrative would misrepresent the deal.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more relevant question: how quickly does post-close cash generation replenish the $61.8B deployed, under the model's forecast assumptions?</a:t>
            </a:r>
            <a:endParaRPr lang="en-US" sz="14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377440"/>
          <a:ext cx="5486400" cy="914400"/>
        </p:xfrm>
        <a:graphic>
          <a:graphicData uri="http://schemas.openxmlformats.org/drawingml/2006/table">
            <a:tbl>
              <a:tblPr/>
              <a:tblGrid>
                <a:gridCol w="2560320"/>
                <a:gridCol w="292608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Year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Cumulative Net Cash Generated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Year 1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$21.8B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Year 2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$48.6B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Year 3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$81.2B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Year 4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$119.9B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Year 5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$164.3B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6492240" y="2377440"/>
            <a:ext cx="4937760" cy="1920240"/>
          </a:xfrm>
          <a:prstGeom prst="roundRect">
            <a:avLst>
              <a:gd name="adj" fmla="val 3810"/>
            </a:avLst>
          </a:prstGeom>
          <a:solidFill>
            <a:srgbClr val="EAF1F8"/>
          </a:solidFill>
          <a:ln w="12700">
            <a:solidFill>
              <a:srgbClr val="B8CCE4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492240" y="2487168"/>
            <a:ext cx="4937760" cy="105613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7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2.40 years</a:t>
            </a:r>
            <a:endParaRPr lang="en-US" sz="3400" dirty="0"/>
          </a:p>
        </p:txBody>
      </p:sp>
      <p:sp>
        <p:nvSpPr>
          <p:cNvPr id="8" name="Text 5"/>
          <p:cNvSpPr/>
          <p:nvPr/>
        </p:nvSpPr>
        <p:spPr>
          <a:xfrm>
            <a:off x="6629400" y="3491179"/>
            <a:ext cx="4663440" cy="7680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 rebuild the $61.8B of deployed liquidity, under the model's forecast assumptions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6492240" y="4572000"/>
            <a:ext cx="49377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4E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[MODEL-DERIVED] </a:t>
            </a:r>
            <a:pPr indent="0" marL="0">
              <a:buNone/>
            </a:pPr>
            <a:r>
              <a:rPr lang="en-US" sz="1200" i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Fully formula-driven interpolation (crosses $61.8B during Year 3) — not a hardcoded estimate.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365760" y="6537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Microsoft × Activision Blizzard  |  M&amp;A Accretion/Dilution &amp; Strategic Analysis  |  Sam Felix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F4E7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11430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Strategic Rationale &amp; Risks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1051560"/>
            <a:ext cx="3566160" cy="2331720"/>
          </a:xfrm>
          <a:prstGeom prst="roundRect">
            <a:avLst>
              <a:gd name="adj" fmla="val 2353"/>
            </a:avLst>
          </a:prstGeom>
          <a:solidFill>
            <a:srgbClr val="F7F7F7"/>
          </a:solidFill>
          <a:ln w="19050">
            <a:solidFill>
              <a:srgbClr val="7A3B3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051560"/>
            <a:ext cx="3566160" cy="457200"/>
          </a:xfrm>
          <a:prstGeom prst="rect">
            <a:avLst/>
          </a:prstGeom>
          <a:solidFill>
            <a:srgbClr val="7A3B3B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105156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Synergies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731520" y="1645920"/>
            <a:ext cx="3200400" cy="1600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Least plausible primary driver. Activision's ~$5.9B FY2022 cost base makes a $3.6B annual target implausible without gutting the studios that make the IP valuable.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297680" y="1051560"/>
            <a:ext cx="3566160" cy="2331720"/>
          </a:xfrm>
          <a:prstGeom prst="roundRect">
            <a:avLst>
              <a:gd name="adj" fmla="val 2353"/>
            </a:avLst>
          </a:prstGeom>
          <a:solidFill>
            <a:srgbClr val="F7F7F7"/>
          </a:solidFill>
          <a:ln w="19050">
            <a:solidFill>
              <a:srgbClr val="1F4E7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297680" y="1051560"/>
            <a:ext cx="3566160" cy="457200"/>
          </a:xfrm>
          <a:prstGeom prst="rect">
            <a:avLst/>
          </a:prstGeom>
          <a:solidFill>
            <a:srgbClr val="1F4E78"/>
          </a:solidFill>
          <a:ln/>
        </p:spPr>
      </p:sp>
      <p:sp>
        <p:nvSpPr>
          <p:cNvPr id="10" name="Text 8"/>
          <p:cNvSpPr/>
          <p:nvPr/>
        </p:nvSpPr>
        <p:spPr>
          <a:xfrm>
            <a:off x="4434840" y="105156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Revenue Synergies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4480560" y="1645920"/>
            <a:ext cx="3200400" cy="1600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More plausible: Call of Duty and King's mobile audience distributed through Game Pass, cross-platform bundling, monetizing titles across console, PC, cloud, and mobile.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8046720" y="1051560"/>
            <a:ext cx="3566160" cy="2331720"/>
          </a:xfrm>
          <a:prstGeom prst="roundRect">
            <a:avLst>
              <a:gd name="adj" fmla="val 2353"/>
            </a:avLst>
          </a:prstGeom>
          <a:solidFill>
            <a:srgbClr val="F7F7F7"/>
          </a:solidFill>
          <a:ln w="19050">
            <a:solidFill>
              <a:srgbClr val="9C7A3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046720" y="1051560"/>
            <a:ext cx="3566160" cy="457200"/>
          </a:xfrm>
          <a:prstGeom prst="rect">
            <a:avLst/>
          </a:prstGeom>
          <a:solidFill>
            <a:srgbClr val="9C7A3C"/>
          </a:solidFill>
          <a:ln/>
        </p:spPr>
      </p:sp>
      <p:sp>
        <p:nvSpPr>
          <p:cNvPr id="14" name="Text 12"/>
          <p:cNvSpPr/>
          <p:nvPr/>
        </p:nvSpPr>
        <p:spPr>
          <a:xfrm>
            <a:off x="8183880" y="105156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Strategic / Ecosystem Value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8229600" y="1645920"/>
            <a:ext cx="3200400" cy="1600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Content ownership as a platform-dependency hedge, King's mobile reach, Game Pass subscriber growth — long-duration option value a 5-year EPS model isn't built to capture.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48640" y="3657600"/>
            <a:ext cx="11064240" cy="0"/>
          </a:xfrm>
          <a:prstGeom prst="line">
            <a:avLst/>
          </a:prstGeom>
          <a:noFill/>
          <a:ln w="12700">
            <a:solidFill>
              <a:srgbClr val="CCCCC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" y="37947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9C7A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Risks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457200" y="4206240"/>
            <a:ext cx="1124712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Regulatory scrutiny was material and real (UK CMA block later reversed after restructuring; FTC lawsuit) — the prolonged approval timeline carried real cost this model doesn't capture.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Microsoft's actual thesis rests more on revenue/ecosystem synergies than cost synergies, the 48.31% hurdle overstates how "unrealistic" the deal looks on a pure cost basis.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365760" y="6537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Microsoft × Activision Blizzard  |  M&amp;A Accretion/Dilution &amp; Strategic Analysis  |  Sam Felix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F4E7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11430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Final Verdict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960120"/>
            <a:ext cx="11064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i="1" dirty="0">
                <a:solidFill>
                  <a:srgbClr val="17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“Financially absorbable, strategically defensible, but not compelling on near-term EPS alone.”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548640" y="1600200"/>
            <a:ext cx="11064240" cy="3749040"/>
          </a:xfrm>
          <a:prstGeom prst="roundRect">
            <a:avLst>
              <a:gd name="adj" fmla="val 1951"/>
            </a:avLst>
          </a:prstGeom>
          <a:solidFill>
            <a:srgbClr val="FFF2CC"/>
          </a:solidFill>
          <a:ln w="12700">
            <a:solidFill>
              <a:srgbClr val="D6B65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1828800"/>
            <a:ext cx="1051560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b="1" dirty="0">
                <a:solidFill>
                  <a:srgbClr val="9C7A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[INTERPRETATION] </a:t>
            </a:r>
            <a:pPr indent="0" marL="0">
              <a:lnSpc>
                <a:spcPct val="112000"/>
              </a:lnSpc>
              <a:buNone/>
            </a:pPr>
            <a:r>
              <a:rPr lang="en-US" sz="135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Activision transaction is difficult to justify on near-term EPS accretion alone.</a:t>
            </a:r>
            <a:pPr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The base case is dilutive by roughly 4.07% with no synergies, and reaching neutrality requires an annual pre-tax synergy level equal to nearly half of Activision's entire pre-deal revenue — a bar that is very hard to clear through cost synergies without undermining the acquired business itself.
</a:t>
            </a:r>
            <a:pPr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However, </a:t>
            </a:r>
            <a:pPr indent="0" marL="0">
              <a:lnSpc>
                <a:spcPct val="112000"/>
              </a:lnSpc>
              <a:buNone/>
            </a:pPr>
            <a:r>
              <a:rPr lang="en-US" sz="135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Microsoft's balance sheet strength and cash-generation capacity materially reduce the financial risk of the deal.</a:t>
            </a:r>
            <a:pPr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Under the model's forecast assumptions, the $61.8B deployed would be rebuilt in roughly two and a half years, without a debt paydown story, asset sales, or an interruption to dividends and buybacks — a relatively low degree of financing risk for a deal of this size.
</a:t>
            </a:r>
            <a:pPr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Putting these together, the acquisition is </a:t>
            </a:r>
            <a:pPr indent="0" marL="0">
              <a:lnSpc>
                <a:spcPct val="112000"/>
              </a:lnSpc>
              <a:buNone/>
            </a:pPr>
            <a:r>
              <a:rPr lang="en-US" sz="135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more defensible as a long-duration strategic investment in gaming distribution and ecosystem value than as a traditional cost-synergy transaction.</a:t>
            </a:r>
            <a:pPr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The EPS-accretion lens quantifies exactly how large the gap is between "the deal pays for itself on paper" and "the deal makes strategic sense" — but is not by itself sufficient to judge whether Microsoft was right to do this deal.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548640" y="557784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Educational / portfolio project only — not investment advice.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65760" y="6537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Microsoft × Activision Blizzard  |  M&amp;A Accretion/Dilution &amp; Strategic Analysis  |  Sam Felix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2026-08-11T18:25:53Z</dcterms:created>
  <dcterms:modified xsi:type="dcterms:W3CDTF">2026-08-11T18:25:53Z</dcterms:modified>
</cp:coreProperties>
</file>